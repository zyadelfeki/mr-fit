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0CA42-0BF8-448B-536B-4D45897A1336}" v="154" dt="2026-06-18T20:05:48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A3A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E1-40B4-BBC3-06B7671452BF}"/>
              </c:ext>
            </c:extLst>
          </c:dPt>
          <c:dPt>
            <c:idx val="1"/>
            <c:invertIfNegative val="0"/>
            <c:bubble3D val="0"/>
            <c:spPr>
              <a:solidFill>
                <a:srgbClr val="1A5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E1-40B4-BBC3-06B7671452BF}"/>
              </c:ext>
            </c:extLst>
          </c:dPt>
          <c:dPt>
            <c:idx val="2"/>
            <c:invertIfNegative val="0"/>
            <c:bubble3D val="0"/>
            <c:spPr>
              <a:solidFill>
                <a:srgbClr val="1A7E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E1-40B4-BBC3-06B7671452BF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E1-40B4-BBC3-06B7671452BF}"/>
              </c:ext>
            </c:extLst>
          </c:dPt>
          <c:dPt>
            <c:idx val="4"/>
            <c:invertIfNegative val="0"/>
            <c:bubble3D val="0"/>
            <c:spPr>
              <a:solidFill>
                <a:srgbClr val="00C2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5E1-40B4-BBC3-06B7671452B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Bench Press</c:v>
                </c:pt>
                <c:pt idx="1">
                  <c:v>Squat</c:v>
                </c:pt>
                <c:pt idx="2">
                  <c:v>Barbell Row</c:v>
                </c:pt>
                <c:pt idx="3">
                  <c:v>Overhead Press</c:v>
                </c:pt>
                <c:pt idx="4">
                  <c:v>Deadlift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</c:v>
                </c:pt>
                <c:pt idx="1">
                  <c:v>98</c:v>
                </c:pt>
                <c:pt idx="2">
                  <c:v>98</c:v>
                </c:pt>
                <c:pt idx="3">
                  <c:v>97</c:v>
                </c:pt>
                <c:pt idx="4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5E1-40B4-BBC3-06B7671452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0E8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15292-437D-4E33-A492-440A6910A05C}" type="datetimeFigureOut"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9B19D-42A4-4B7D-A556-618FF16A418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20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'My name is Ahmed. This is MR Fit — an AI system that knows what exercise you're doing before you tell it.' Pause. Let the title breathe.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audience a map of the talk. Say: 'We'll move from the problem, through every layer of the system, and end with our results and what comes next.'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committee: 'How many of you have lost count of your reps at the gym?' Let it land. Then say: 'These four problems motivated MR Fit.'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'MR Fit is the answer to all four problems. Let me walk you through how it works from sensor to prediction.'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Every arrow is a function call in Python. The whole pipeline runs in under 5ms.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'Three chips. The MPU reads motion, the ESP32 is the brain, the OLED shows feedback instantly on the device.'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config.py is the single source of truth. If you change SAMPLING_FREQ here, it propagates everywhere. loader.py handles both CSV (training) and JSON (live 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Chauvenet adapts to sample size N. For N=1000, the threshold is different than N=100. This is why it outperforms static IQR-based removal.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filtfilt: 'We apply the filter twice — forward and backward. This doubles the effective order and removes phase lag, so peak positions are accurate for rep counting.'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technical heart of the talk. Say: 'We don't feed raw numbers to the model. Each of these transformations helps the model distinguish one exercise from another.'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'We built four progressive feature sets. Each adds more information. The final set — f_set_4 — gives us 98.7% accuracy.'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gold bars are detected peaks. Each peak is one rep. The MAE under 1 rep is a strong result — it means the counter is almost always exactly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main.py --train triggers this full pipeline. It takes ~2 minutes on CPU. The result is three saved artifacts in saved_models/.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wins on three fronts: accuracy, training time, and no GPU requirement. This is the right choice for a production system that might run on a Raspberry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critical design decision. Three artifacts, always together. If you retrain the model you must also retrain and resave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output fields: exercise name, confidence, rep count, all class probabilities, and latency. The OLED display shows exercise + reps +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API is stateless. Each request is independent. This makes horizontal scaling trivial with Docker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 pipeline in one slide. Memorize the timing breakdown — the committee will ask about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exercises exceed 97%. Overhead press at 97% is the lowest — it shares motion patterns with bench press, which makes it slightly harder to distinguish.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confusion between OHP and bench is expected — they're biomechanically similar. The FFT features help because OHP has a different frequency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folder has a single responsibility. config/ owns constants. data/ owns loading. features/ owns transformation. models/ owns training and inference. This separation makes the code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open source. No paid cloud services. The entire system can be reproduced with pip install + docker-compose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committee often respects honesty about challenges more than a perfect-sounding project. These show real engineering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committee asks why not just use an existing product: cost, openness, and rep counting. MR Fit does things commercial products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'MR Fit is not a prototype. It is a production-ready system built from scratch. Thank you — I am happy to answer any questions.'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4300" y="1143000"/>
            <a:ext cx="2374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 calm. Smile. If you don't know an answer, say: 'That's a great point — we noted it as future work.' Never guess on a number you're not sure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0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43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 FIT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502920" y="1755648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AI-Powered Fitness Tracker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26771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BDD"/>
                </a:solidFill>
              </a:rPr>
              <a:t>Real-time exercise classification &amp; repetition counting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ABBDD"/>
                </a:solidFill>
              </a:rPr>
              <a:t>from wearable IMU sensor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44622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</a:rPr>
              <a:t>Ahmed Elawady  •  </a:t>
            </a:r>
            <a:r>
              <a:rPr lang="en-US" sz="1000" b="1" dirty="0">
                <a:solidFill>
                  <a:srgbClr val="FFFFFF"/>
                </a:solidFill>
              </a:rPr>
              <a:t>Mansoura University</a:t>
            </a:r>
            <a:r>
              <a:rPr lang="en-US" sz="1000" dirty="0">
                <a:solidFill>
                  <a:srgbClr val="7A8BB5"/>
                </a:solidFill>
              </a:rPr>
              <a:t>  •  Faculty of Computers &amp; Information  • 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411480"/>
            <a:ext cx="2926080" cy="2926080"/>
          </a:xfrm>
          <a:prstGeom prst="line">
            <a:avLst/>
          </a:prstGeom>
          <a:solidFill>
            <a:srgbClr val="1A3A8F">
              <a:alpha val="60000"/>
            </a:srgbClr>
          </a:solidFill>
          <a:ln w="19050">
            <a:solidFill>
              <a:srgbClr val="00C2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96012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393192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825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FF"/>
                </a:solidFill>
              </a:rPr>
              <a:t>98.7% · Accuracy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06040" y="393192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825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0604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FF"/>
                </a:solidFill>
              </a:rPr>
              <a:t>5 · Exercises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393192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825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FF"/>
                </a:solidFill>
              </a:rPr>
              <a:t>&lt;5ms · Latency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8EDD-2EAC-1928-A0CF-BB6E04687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6096" y="84044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A4EED-714E-E498-6B51-D86CA8616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94279" y="7564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2AC76-C35F-199B-052F-5D7EC54D92C6}"/>
              </a:ext>
            </a:extLst>
          </p:cNvPr>
          <p:cNvSpPr txBox="1"/>
          <p:nvPr/>
        </p:nvSpPr>
        <p:spPr>
          <a:xfrm>
            <a:off x="126066" y="564777"/>
            <a:ext cx="869016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ptos"/>
                <a:cs typeface="Arial"/>
              </a:rPr>
              <a:t>Imagine you are at the gym with no coach watching you. You </a:t>
            </a:r>
            <a:r>
              <a:rPr lang="en-US" sz="2800" b="1">
                <a:solidFill>
                  <a:schemeClr val="bg1"/>
                </a:solidFill>
                <a:latin typeface="Aptos"/>
                <a:cs typeface="Arial"/>
              </a:rPr>
              <a:t>don't</a:t>
            </a:r>
            <a:r>
              <a:rPr lang="en-US" sz="2800" b="1" dirty="0">
                <a:solidFill>
                  <a:schemeClr val="bg1"/>
                </a:solidFill>
                <a:latin typeface="Aptos"/>
                <a:cs typeface="Arial"/>
              </a:rPr>
              <a:t> know if you are doing your exercises correctly. You lose count of your repetitions. You have no feedback at all. MR Fit solves exactly this problem. It is an AI-powered system that reads your body movement through a small sensor, recognizes your exercise automatically, and counts your repetitions in real time — all without you pressing a single button.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0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91056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910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2104" y="1536192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Problem &amp; Motivation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32104" y="1773936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Why we built MR Fit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249424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494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" y="2194560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System Architecture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" y="2432304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5-layer pipeline overview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79776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907792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077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" y="285292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Hardware Layer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" y="3090672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ESP32, MPU-6050, OLED display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438144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566160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66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" y="3511296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Data Pipeline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2104" y="3749040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Ingestion, cleaning, preprocessing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096512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224528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245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" y="416966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Feature Engineering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2104" y="440740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50+ features from 6 raw axes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26280" y="1463040"/>
            <a:ext cx="4251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591056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5910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38344" y="153619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Model Training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38344" y="1773936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5 classifiers, 4 feature sets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26280" y="2121408"/>
            <a:ext cx="4251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2249424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2494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38344" y="2194560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API &amp; Integration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38344" y="2432304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FastAPI server &amp; endpoints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26280" y="2779776"/>
            <a:ext cx="4251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2907792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29077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38344" y="2852928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Results &amp; Evaluation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038344" y="3090672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Accuracy, latency, rep counting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26280" y="3438144"/>
            <a:ext cx="4251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566160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3566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38344" y="3511296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Tech Stack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038344" y="3749040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Full project file structure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26280" y="4096512"/>
            <a:ext cx="4251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17720" y="4224528"/>
            <a:ext cx="347472" cy="292608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42245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38344" y="416966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0"/>
                </a:solidFill>
              </a:rPr>
              <a:t>Conclusion &amp; Roadmap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038344" y="4407408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</a:rPr>
              <a:t>What's next for MR Fit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WHY DID WE BUILD THIS?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493776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-45720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0" dirty="0">
                <a:solidFill>
                  <a:srgbClr val="1825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73936"/>
            <a:ext cx="274320" cy="274320"/>
          </a:xfrm>
          <a:prstGeom prst="line">
            <a:avLst/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746504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People train without real-time feedback on form or reps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340864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87168"/>
            <a:ext cx="274320" cy="274320"/>
          </a:xfrm>
          <a:prstGeom prst="line">
            <a:avLst/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459736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Manual rep counting breaks focus and concentration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054096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200400"/>
            <a:ext cx="274320" cy="274320"/>
          </a:xfrm>
          <a:prstGeom prst="line">
            <a:avLst/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172968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Personal coaches are expensive and not always accessible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767328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913632"/>
            <a:ext cx="274320" cy="274320"/>
          </a:xfrm>
          <a:prstGeom prst="line">
            <a:avLst/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886200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Existing wearables are costly, closed-source, or inaccurate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 Fit — One Sentence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8412480" cy="1097280"/>
          </a:xfrm>
          <a:prstGeom prst="roundRect">
            <a:avLst>
              <a:gd name="adj" fmla="val 10833"/>
            </a:avLst>
          </a:prstGeom>
          <a:solidFill>
            <a:srgbClr val="0D1B40"/>
          </a:solidFill>
          <a:ln w="25400">
            <a:solidFill>
              <a:srgbClr val="00C2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"Wear the sensor. Start your workout. MR Fit does the rest."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69748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6207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2852928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Detects Exercise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3264408"/>
            <a:ext cx="23682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Bench press, squat, row,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overhead press, deadlift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27832" y="2697480"/>
            <a:ext cx="269748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28620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2852928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Counts Reps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92424" y="3264408"/>
            <a:ext cx="23682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Peak detection on filtered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magnitude signal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9904" y="2697480"/>
            <a:ext cx="269748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8620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56832" y="2852928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Real-Time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54496" y="3264408"/>
            <a:ext cx="23682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Under 5ms from sensor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reading to prediction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65760" y="3931920"/>
            <a:ext cx="269748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09651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4087368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Low-Cost HW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0352" y="4498848"/>
            <a:ext cx="23682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ESP32 + MPU-6050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&lt; $10 in total hardware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27832" y="3931920"/>
            <a:ext cx="269748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409651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94760" y="4087368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Fully Offline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392424" y="4498848"/>
            <a:ext cx="23682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No cloud, no internet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needed — runs local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089904" y="3931920"/>
            <a:ext cx="269748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09651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656832" y="4087368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Open Pipeline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6254496" y="4498848"/>
            <a:ext cx="23682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Modular Python code,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FastAPI, Docker-ready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SYSTEM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54480"/>
            <a:ext cx="1444752" cy="2011680"/>
          </a:xfrm>
          <a:prstGeom prst="roundRect">
            <a:avLst>
              <a:gd name="adj" fmla="val 8228"/>
            </a:avLst>
          </a:prstGeom>
          <a:solidFill>
            <a:srgbClr val="0D3A6E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1664208"/>
            <a:ext cx="365760" cy="365760"/>
          </a:xfrm>
          <a:prstGeom prst="line">
            <a:avLst/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139696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76148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IMU Sensor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47472" y="309067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ESP32 + MPU-6050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6-axis @ 5 Hz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828800" y="2560320"/>
            <a:ext cx="329184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93392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94560" y="1554480"/>
            <a:ext cx="1444752" cy="2011680"/>
          </a:xfrm>
          <a:prstGeom prst="roundRect">
            <a:avLst>
              <a:gd name="adj" fmla="val 8228"/>
            </a:avLst>
          </a:prstGeom>
          <a:solidFill>
            <a:srgbClr val="0D3A6E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34056" y="1664208"/>
            <a:ext cx="365760" cy="365760"/>
          </a:xfrm>
          <a:prstGeom prst="line">
            <a:avLst/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34056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2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04" y="2139696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94560" y="276148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Preprocessing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194560" y="309067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Outlier removal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+ Butterworth LPF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75888" y="2560320"/>
            <a:ext cx="329184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4048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041648" y="1554480"/>
            <a:ext cx="1444752" cy="2011680"/>
          </a:xfrm>
          <a:prstGeom prst="roundRect">
            <a:avLst>
              <a:gd name="adj" fmla="val 8228"/>
            </a:avLst>
          </a:prstGeom>
          <a:solidFill>
            <a:srgbClr val="0D3A6E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81144" y="1664208"/>
            <a:ext cx="365760" cy="365760"/>
          </a:xfrm>
          <a:prstGeom prst="line">
            <a:avLst/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8114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3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2139696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041648" y="276148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Feature Engine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041648" y="309067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50+ features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PCA · FFT · KMeans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522976" y="2560320"/>
            <a:ext cx="329184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687568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888736" y="1554480"/>
            <a:ext cx="1444752" cy="2011680"/>
          </a:xfrm>
          <a:prstGeom prst="roundRect">
            <a:avLst>
              <a:gd name="adj" fmla="val 8228"/>
            </a:avLst>
          </a:prstGeom>
          <a:solidFill>
            <a:srgbClr val="0D3A6E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428232" y="1664208"/>
            <a:ext cx="365760" cy="365760"/>
          </a:xfrm>
          <a:prstGeom prst="line">
            <a:avLst/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2823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4</a:t>
            </a:r>
            <a:endParaRPr lang="en-US" sz="11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139696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888736" y="276148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Random Forest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5888736" y="309067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98.7% accuracy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5 exercise classes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370064" y="2560320"/>
            <a:ext cx="329184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534656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7735824" y="1554480"/>
            <a:ext cx="1444752" cy="2011680"/>
          </a:xfrm>
          <a:prstGeom prst="roundRect">
            <a:avLst>
              <a:gd name="adj" fmla="val 8228"/>
            </a:avLst>
          </a:prstGeom>
          <a:solidFill>
            <a:srgbClr val="0D3A6E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275320" y="1664208"/>
            <a:ext cx="365760" cy="365760"/>
          </a:xfrm>
          <a:prstGeom prst="line">
            <a:avLst/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2753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5</a:t>
            </a:r>
            <a:endParaRPr lang="en-US" sz="11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168" y="2139696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735824" y="276148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FastAPI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7735824" y="309067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REST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BBDD"/>
                </a:solidFill>
              </a:rPr>
              <a:t>&lt; 5ms latency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sensor_handler.py  →  preprocessing.py  →  feature_engineering.py  →  predict.py  →  app.py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HARDWARE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81328"/>
            <a:ext cx="2788920" cy="34290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ESP32 Microcontroller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</a:rPr>
              <a:t>Main processing unit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2322576"/>
            <a:ext cx="128016" cy="12801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2677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Dual-core 240 MHz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" y="2798064"/>
            <a:ext cx="128016" cy="12801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743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Built-in WiFi + Bluetooth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3273552"/>
            <a:ext cx="128016" cy="12801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218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UART, I²C, SPI support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3749040"/>
            <a:ext cx="128016" cy="12801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36941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Flash: 4MB, RAM: 520KB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" y="4224528"/>
            <a:ext cx="128016" cy="12801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41696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Sends data to FastAPI via serial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1481328"/>
            <a:ext cx="2788920" cy="34290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1572768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572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MPU-6050 IMU Sensor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199339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</a:rPr>
              <a:t>Motion capture chip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65576" y="2322576"/>
            <a:ext cx="128016" cy="128016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22677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3-axis accelerometer ±2g–±16g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65576" y="2798064"/>
            <a:ext cx="128016" cy="128016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2743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3-axis gyroscope ±250–±2000°/s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65576" y="3273552"/>
            <a:ext cx="128016" cy="128016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66744" y="3218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16-bit ADC per axis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65576" y="3749040"/>
            <a:ext cx="128016" cy="128016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66744" y="36941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I²C address 0x68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65576" y="4224528"/>
            <a:ext cx="128016" cy="128016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66744" y="41696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Sampling at 5 Hz (200ms interval)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08776" y="1481328"/>
            <a:ext cx="2788920" cy="34290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0216" y="1572768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6B0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1572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SSD1306 OLED Display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0216" y="199339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</a:rPr>
              <a:t>Real-time feedback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9944" y="2322576"/>
            <a:ext cx="128016" cy="128016"/>
          </a:xfrm>
          <a:prstGeom prst="line">
            <a:avLst/>
          </a:prstGeom>
          <a:solidFill>
            <a:srgbClr val="6B0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22677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128×64 pixel display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9944" y="2798064"/>
            <a:ext cx="128016" cy="128016"/>
          </a:xfrm>
          <a:prstGeom prst="line">
            <a:avLst/>
          </a:prstGeom>
          <a:solidFill>
            <a:srgbClr val="6B0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11112" y="2743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Shows: exercise name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9944" y="3273552"/>
            <a:ext cx="128016" cy="128016"/>
          </a:xfrm>
          <a:prstGeom prst="line">
            <a:avLst/>
          </a:prstGeom>
          <a:solidFill>
            <a:srgbClr val="6B0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1112" y="3218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Shows: rep count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9944" y="3749040"/>
            <a:ext cx="128016" cy="128016"/>
          </a:xfrm>
          <a:prstGeom prst="line">
            <a:avLst/>
          </a:prstGeom>
          <a:solidFill>
            <a:srgbClr val="6B0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11112" y="36941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Shows: confidence 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9944" y="4224528"/>
            <a:ext cx="128016" cy="128016"/>
          </a:xfrm>
          <a:prstGeom prst="line">
            <a:avLst/>
          </a:prstGeom>
          <a:solidFill>
            <a:srgbClr val="6B0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41696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I²C bus — same as MPU-6050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DATA &amp; CONFIG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&amp; Data Ingestion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4160520" cy="3429000"/>
          </a:xfrm>
          <a:prstGeom prst="roundRect">
            <a:avLst>
              <a:gd name="adj" fmla="val 3467"/>
            </a:avLst>
          </a:prstGeom>
          <a:solidFill>
            <a:srgbClr val="0D1B4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5448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config/config.py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901952"/>
            <a:ext cx="3977640" cy="2871216"/>
          </a:xfrm>
          <a:prstGeom prst="roundRect">
            <a:avLst>
              <a:gd name="adj" fmla="val 4140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2011680"/>
            <a:ext cx="36484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SAMPLING_FREQ = 5.0        # Hz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WINDOW_SIZE   = 5          # samples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    = 5          # KMeans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     = 0.20       # 80/20 split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  = 42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 =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"bench", "squat", "row",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"ohp",   "dead"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REP_CUTOFFS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"bench": 0.40,  # Hz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"squat": 0.35,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"row":   0.45,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"ohp":   0.38,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"dead":  0.30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45152" y="1463040"/>
            <a:ext cx="4160520" cy="3429000"/>
          </a:xfrm>
          <a:prstGeom prst="roundRect">
            <a:avLst>
              <a:gd name="adj" fmla="val 3467"/>
            </a:avLst>
          </a:prstGeom>
          <a:solidFill>
            <a:srgbClr val="0D1B4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55448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data/loader.py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6592" y="1901952"/>
            <a:ext cx="3977640" cy="2871216"/>
          </a:xfrm>
          <a:prstGeom prst="roundRect">
            <a:avLst>
              <a:gd name="adj" fmla="val 4140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01184" y="2011680"/>
            <a:ext cx="36484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load_dataset(path):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 = pd.read_csv(path)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Extract labels from filename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e.g. A-bench-medium-5.csv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→ exercise='bench', set=5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 = merge_sensor_axes(df)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 = resample_to_200ms(df)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load_for_inference(json_data):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 = pd.DataFrame([json_data])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validate_columns(df)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DATA PREPROCESSING — STEP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Removal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3130" y="1481328"/>
            <a:ext cx="4206240" cy="3337560"/>
          </a:xfrm>
          <a:prstGeom prst="roundRect">
            <a:avLst>
              <a:gd name="adj" fmla="val 3562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5910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</a:rPr>
              <a:t>Chauvenet's Criterion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1146" y="18655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800"/>
                </a:solidFill>
              </a:rPr>
              <a:t>For each column and each exercise label: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1146" y="2140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1. Compute μ (mean) and σ (std deviation)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1146" y="2485039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2. Calculate Z-score for each value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1146" y="279869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3. If P(|Z| ≥ z) &lt; 1/(2N) → outlier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3104513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4. Replace outlier with NaN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355535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5. Linear interpolate to fill NaN gaps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830" y="39953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68F"/>
                </a:solidFill>
              </a:rPr>
              <a:t>✓ More statistically sound than IQR method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68F"/>
                </a:solidFill>
              </a:rPr>
              <a:t>✓ Adapts threshold to sample size 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1481328"/>
            <a:ext cx="4023360" cy="3337560"/>
          </a:xfrm>
          <a:prstGeom prst="roundRect">
            <a:avLst>
              <a:gd name="adj" fmla="val 3562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15910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Before → After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385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BB5"/>
                </a:solidFill>
              </a:rPr>
              <a:t>Before (noisy signal):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64608" y="2439162"/>
            <a:ext cx="201168" cy="276606"/>
          </a:xfrm>
          <a:prstGeom prst="roundRect">
            <a:avLst>
              <a:gd name="adj" fmla="val 9091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605126"/>
            <a:ext cx="201168" cy="110642"/>
          </a:xfrm>
          <a:prstGeom prst="roundRect">
            <a:avLst>
              <a:gd name="adj" fmla="val 16529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2273198"/>
            <a:ext cx="201168" cy="442570"/>
          </a:xfrm>
          <a:prstGeom prst="roundRect">
            <a:avLst>
              <a:gd name="adj" fmla="val 9091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32704" y="2655418"/>
            <a:ext cx="201168" cy="60350"/>
          </a:xfrm>
          <a:prstGeom prst="roundRect">
            <a:avLst>
              <a:gd name="adj" fmla="val 30303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88736" y="2237994"/>
            <a:ext cx="201168" cy="477774"/>
          </a:xfrm>
          <a:prstGeom prst="roundRect">
            <a:avLst>
              <a:gd name="adj" fmla="val 9091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2539746"/>
            <a:ext cx="201168" cy="176022"/>
          </a:xfrm>
          <a:prstGeom prst="roundRect">
            <a:avLst>
              <a:gd name="adj" fmla="val 10390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363724"/>
            <a:ext cx="201168" cy="352044"/>
          </a:xfrm>
          <a:prstGeom prst="roundRect">
            <a:avLst>
              <a:gd name="adj" fmla="val 9091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2675534"/>
            <a:ext cx="201168" cy="40234"/>
          </a:xfrm>
          <a:prstGeom prst="roundRect">
            <a:avLst>
              <a:gd name="adj" fmla="val 45454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12864" y="2263140"/>
            <a:ext cx="201168" cy="452628"/>
          </a:xfrm>
          <a:prstGeom prst="roundRect">
            <a:avLst>
              <a:gd name="adj" fmla="val 9091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68896" y="2514600"/>
            <a:ext cx="201168" cy="201168"/>
          </a:xfrm>
          <a:prstGeom prst="roundRect">
            <a:avLst>
              <a:gd name="adj" fmla="val 9091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4928" y="2695651"/>
            <a:ext cx="201168" cy="20117"/>
          </a:xfrm>
          <a:prstGeom prst="roundRect">
            <a:avLst>
              <a:gd name="adj" fmla="val 90908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2323490"/>
            <a:ext cx="201168" cy="392278"/>
          </a:xfrm>
          <a:prstGeom prst="roundRect">
            <a:avLst>
              <a:gd name="adj" fmla="val 9091"/>
            </a:avLst>
          </a:prstGeom>
          <a:solidFill>
            <a:srgbClr val="D94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30952" y="2176272"/>
            <a:ext cx="292608" cy="201168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43016" y="2176272"/>
            <a:ext cx="292608" cy="201168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11112" y="2176272"/>
            <a:ext cx="292608" cy="201168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79208" y="2176272"/>
            <a:ext cx="292608" cy="201168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7797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800"/>
                </a:solidFill>
              </a:rPr>
              <a:t>↑ Outliers circled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46320" y="305409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BB5"/>
                </a:solidFill>
              </a:rPr>
              <a:t>After (clean + interpolated):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64608" y="3735324"/>
            <a:ext cx="201168" cy="150876"/>
          </a:xfrm>
          <a:prstGeom prst="roundRect">
            <a:avLst>
              <a:gd name="adj" fmla="val 12121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3674974"/>
            <a:ext cx="201168" cy="211226"/>
          </a:xfrm>
          <a:prstGeom prst="roundRect">
            <a:avLst>
              <a:gd name="adj" fmla="val 9091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76672" y="3604565"/>
            <a:ext cx="201168" cy="281635"/>
          </a:xfrm>
          <a:prstGeom prst="roundRect">
            <a:avLst>
              <a:gd name="adj" fmla="val 9091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32704" y="3559302"/>
            <a:ext cx="201168" cy="326898"/>
          </a:xfrm>
          <a:prstGeom prst="roundRect">
            <a:avLst>
              <a:gd name="adj" fmla="val 9091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88736" y="3524098"/>
            <a:ext cx="201168" cy="362102"/>
          </a:xfrm>
          <a:prstGeom prst="roundRect">
            <a:avLst>
              <a:gd name="adj" fmla="val 9091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4768" y="3503981"/>
            <a:ext cx="201168" cy="382219"/>
          </a:xfrm>
          <a:prstGeom prst="roundRect">
            <a:avLst>
              <a:gd name="adj" fmla="val 9091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534156"/>
            <a:ext cx="201168" cy="352044"/>
          </a:xfrm>
          <a:prstGeom prst="roundRect">
            <a:avLst>
              <a:gd name="adj" fmla="val 9091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56832" y="3584448"/>
            <a:ext cx="201168" cy="301752"/>
          </a:xfrm>
          <a:prstGeom prst="roundRect">
            <a:avLst>
              <a:gd name="adj" fmla="val 9091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12864" y="3634740"/>
            <a:ext cx="201168" cy="251460"/>
          </a:xfrm>
          <a:prstGeom prst="roundRect">
            <a:avLst>
              <a:gd name="adj" fmla="val 9091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68896" y="3695090"/>
            <a:ext cx="201168" cy="191110"/>
          </a:xfrm>
          <a:prstGeom prst="roundRect">
            <a:avLst>
              <a:gd name="adj" fmla="val 9569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24928" y="3745382"/>
            <a:ext cx="201168" cy="140818"/>
          </a:xfrm>
          <a:prstGeom prst="roundRect">
            <a:avLst>
              <a:gd name="adj" fmla="val 12987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0960" y="3775558"/>
            <a:ext cx="201168" cy="110642"/>
          </a:xfrm>
          <a:prstGeom prst="roundRect">
            <a:avLst>
              <a:gd name="adj" fmla="val 16529"/>
            </a:avLst>
          </a:prstGeom>
          <a:solidFill>
            <a:srgbClr val="00C2FF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PREPROCESSING — STEP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Butterworth Low-Pass Filter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81328"/>
            <a:ext cx="278892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459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63677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What is it?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" y="2048256"/>
            <a:ext cx="245973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A digital filter that removes high-frequency noise from the sensor signal. Only frequencies below the cutoff pass through. Implemented with scipy.signal.butter + filtfilt.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1481328"/>
            <a:ext cx="278892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31336" y="163677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Why Butterworth?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2048256"/>
            <a:ext cx="245973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Maximally flat magnitude response in the passband — no ripple. filtfilt applies it forward AND backward to eliminate phase shift, preserving timing of movements.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08776" y="1481328"/>
            <a:ext cx="278892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645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75704" y="163677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Cutoff Frequency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73368" y="2048256"/>
            <a:ext cx="245973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Set to 0.1× Nyquist frequency by default. Nyquist = 5Hz/2 = 2.5Hz. Cutoff = 0.25Hz for noise removal. Rep-counting uses per-exercise cutoffs (0.30–0.45 Hz).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3108960"/>
            <a:ext cx="8458200" cy="1737360"/>
          </a:xfrm>
          <a:prstGeom prst="roundRect">
            <a:avLst>
              <a:gd name="adj" fmla="val 6842"/>
            </a:avLst>
          </a:prstGeom>
          <a:solidFill>
            <a:srgbClr val="0D1B4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320040" y="3182112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preprocessing.py — LowPassFilter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11480" y="3438144"/>
            <a:ext cx="8275320" cy="1335024"/>
          </a:xfrm>
          <a:prstGeom prst="roundRect">
            <a:avLst>
              <a:gd name="adj" fmla="val 8904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76072" y="3547872"/>
            <a:ext cx="79461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apply_lowpass(df, col, cutoff_freq, sampling_freq, order=5):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nyquist   = sampling_freq / 2                        # 2.5 Hz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normal_c  = cutoff_freq / nyquist                    # normalise to [0,1]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b, a      = butter(order, normal_c, btype='low')     # design filter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df[col]   = filtfilt(b, a, df[col].values)           # zero-phase apply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FEATURE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Inputs → 50+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81328"/>
            <a:ext cx="1920240" cy="3337560"/>
          </a:xfrm>
          <a:prstGeom prst="roundRect">
            <a:avLst>
              <a:gd name="adj" fmla="val 6190"/>
            </a:avLst>
          </a:prstGeom>
          <a:solidFill>
            <a:srgbClr val="0D3A6E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910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</a:rPr>
              <a:t>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1762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acc_x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7980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acc_z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gyro_x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34198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gyro_y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730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gyro_z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3154680"/>
            <a:ext cx="45720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52928" y="1481328"/>
            <a:ext cx="5925312" cy="658368"/>
          </a:xfrm>
          <a:prstGeom prst="roundRect">
            <a:avLst>
              <a:gd name="adj" fmla="val 1805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0" y="1645920"/>
            <a:ext cx="329184" cy="329184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28416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Magnitude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28416" y="1847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acc_r = √(acc_x²+acc_y²+acc_z²)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gyro_r = √(gyro_x²+gyro_y²+gyro_z²)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83296" y="1645920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3296" y="164592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 features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52928" y="2221992"/>
            <a:ext cx="5925312" cy="658368"/>
          </a:xfrm>
          <a:prstGeom prst="roundRect">
            <a:avLst>
              <a:gd name="adj" fmla="val 1805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0" y="2386584"/>
            <a:ext cx="329184" cy="329184"/>
          </a:xfrm>
          <a:prstGeom prst="line">
            <a:avLst/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PCA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28416" y="25877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sklearn PCA(n_components=3)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Fit on all 6 axes together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83296" y="2386584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83296" y="238658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 features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52928" y="2962656"/>
            <a:ext cx="5925312" cy="658368"/>
          </a:xfrm>
          <a:prstGeom prst="roundRect">
            <a:avLst>
              <a:gd name="adj" fmla="val 1805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0" y="3127248"/>
            <a:ext cx="329184" cy="329184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28416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Temporal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28416" y="3328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Rolling window of 5 samples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mean + std per channel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3127248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3127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12 features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852928" y="3703320"/>
            <a:ext cx="5925312" cy="658368"/>
          </a:xfrm>
          <a:prstGeom prst="roundRect">
            <a:avLst>
              <a:gd name="adj" fmla="val 1805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26080" y="3867912"/>
            <a:ext cx="329184" cy="329184"/>
          </a:xfrm>
          <a:prstGeom prst="line">
            <a:avLst/>
          </a:prstGeom>
          <a:solidFill>
            <a:srgbClr val="8B3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28416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Frequency (FFT)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328416" y="4069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abs(rfft) amplitudes per channel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spectral entropy per channel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83296" y="3867912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8B3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83296" y="386791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24+ features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852928" y="4443984"/>
            <a:ext cx="5925312" cy="658368"/>
          </a:xfrm>
          <a:prstGeom prst="roundRect">
            <a:avLst>
              <a:gd name="adj" fmla="val 1805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926080" y="4608576"/>
            <a:ext cx="329184" cy="329184"/>
          </a:xfrm>
          <a:prstGeom prst="line">
            <a:avLst/>
          </a:prstGeom>
          <a:solidFill>
            <a:srgbClr val="6B0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4608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28416" y="4535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KMeans Cluster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328416" y="4809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KMeans(k=5) on acc_x/y/z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</a:rPr>
              <a:t>cluster label as categorical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83296" y="4608576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6B0A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83296" y="460857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 feature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52928" y="5166360"/>
            <a:ext cx="5925312" cy="420624"/>
          </a:xfrm>
          <a:prstGeom prst="roundRect">
            <a:avLst>
              <a:gd name="adj" fmla="val 28261"/>
            </a:avLst>
          </a:prstGeom>
          <a:solidFill>
            <a:srgbClr val="003D1A"/>
          </a:solidFill>
          <a:ln w="12700">
            <a:solidFill>
              <a:srgbClr val="00D6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852928" y="5166360"/>
            <a:ext cx="5925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68F"/>
                </a:solidFill>
              </a:rPr>
              <a:t>Total: 50+ features per reading  →  ready for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FEATURE ENGINEERING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Set Progression (f_set_1 → f_set_4)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81328"/>
            <a:ext cx="2084832" cy="3401568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572768"/>
            <a:ext cx="1938528" cy="347472"/>
          </a:xfrm>
          <a:prstGeom prst="roundRect">
            <a:avLst>
              <a:gd name="adj" fmla="val 2105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57276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f_set_1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2029968"/>
            <a:ext cx="109728" cy="109728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97510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acc_x, acc_y, acc_z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" y="2432304"/>
            <a:ext cx="109728" cy="109728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377440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gyro_x, gyro_y, gyro_z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1208" y="4572000"/>
            <a:ext cx="1682496" cy="219456"/>
          </a:xfrm>
          <a:prstGeom prst="roundRect">
            <a:avLst>
              <a:gd name="adj" fmla="val 29167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45720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RF Accuracy: 91%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" y="4809744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B5"/>
                </a:solidFill>
              </a:rPr>
              <a:t>6 features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32888" y="1481328"/>
            <a:ext cx="2084832" cy="3401568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572768"/>
            <a:ext cx="1938528" cy="347472"/>
          </a:xfrm>
          <a:prstGeom prst="roundRect">
            <a:avLst>
              <a:gd name="adj" fmla="val 21053"/>
            </a:avLst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57276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f_set_2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2029968"/>
            <a:ext cx="109728" cy="109728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197510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All f_set_1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97480" y="2432304"/>
            <a:ext cx="109728" cy="109728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62072" y="2377440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acc_r (magnitude)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97480" y="2834640"/>
            <a:ext cx="109728" cy="109728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2072" y="27797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gyro_r (magnitude)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97480" y="3236976"/>
            <a:ext cx="109728" cy="109728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62072" y="3182112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pca_1, pca_2, pca_3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34056" y="4572000"/>
            <a:ext cx="1682496" cy="219456"/>
          </a:xfrm>
          <a:prstGeom prst="roundRect">
            <a:avLst>
              <a:gd name="adj" fmla="val 29167"/>
            </a:avLst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34056" y="45720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RF Accuracy: 94%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34056" y="4809744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B5"/>
                </a:solidFill>
              </a:rPr>
              <a:t>11 features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45736" y="1481328"/>
            <a:ext cx="2084832" cy="3401568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18888" y="1572768"/>
            <a:ext cx="1938528" cy="347472"/>
          </a:xfrm>
          <a:prstGeom prst="roundRect">
            <a:avLst>
              <a:gd name="adj" fmla="val 21053"/>
            </a:avLst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157276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f_set_3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10328" y="2029968"/>
            <a:ext cx="109728" cy="109728"/>
          </a:xfrm>
          <a:prstGeom prst="line">
            <a:avLst/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197510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All f_set_2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10328" y="2432304"/>
            <a:ext cx="109728" cy="109728"/>
          </a:xfrm>
          <a:prstGeom prst="line">
            <a:avLst/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377440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acc_x_temp_mean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10328" y="2834640"/>
            <a:ext cx="109728" cy="109728"/>
          </a:xfrm>
          <a:prstGeom prst="line">
            <a:avLst/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27797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gyro_z_temp_std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10328" y="3236976"/>
            <a:ext cx="109728" cy="109728"/>
          </a:xfrm>
          <a:prstGeom prst="line">
            <a:avLst/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3182112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...12 temporal features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46904" y="4572000"/>
            <a:ext cx="1682496" cy="219456"/>
          </a:xfrm>
          <a:prstGeom prst="roundRect">
            <a:avLst>
              <a:gd name="adj" fmla="val 29167"/>
            </a:avLst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45720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RF Accuracy: 96.5%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46904" y="4809744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B5"/>
                </a:solidFill>
              </a:rPr>
              <a:t>23 features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58584" y="1481328"/>
            <a:ext cx="2084832" cy="3401568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031736" y="1572768"/>
            <a:ext cx="1938528" cy="347472"/>
          </a:xfrm>
          <a:prstGeom prst="roundRect">
            <a:avLst>
              <a:gd name="adj" fmla="val 21053"/>
            </a:avLst>
          </a:prstGeom>
          <a:solidFill>
            <a:srgbClr val="8B3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31736" y="157276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f_set_4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23176" y="2029968"/>
            <a:ext cx="109728" cy="109728"/>
          </a:xfrm>
          <a:prstGeom prst="line">
            <a:avLst/>
          </a:prstGeom>
          <a:solidFill>
            <a:srgbClr val="8B3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87768" y="197510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All f_set_3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123176" y="2432304"/>
            <a:ext cx="109728" cy="109728"/>
          </a:xfrm>
          <a:prstGeom prst="line">
            <a:avLst/>
          </a:prstGeom>
          <a:solidFill>
            <a:srgbClr val="8B3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87768" y="2377440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FFT amplitudes × 6 channels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23176" y="2834640"/>
            <a:ext cx="109728" cy="109728"/>
          </a:xfrm>
          <a:prstGeom prst="line">
            <a:avLst/>
          </a:prstGeom>
          <a:solidFill>
            <a:srgbClr val="8B3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87768" y="27797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Spectral entropy × 6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123176" y="3236976"/>
            <a:ext cx="109728" cy="109728"/>
          </a:xfrm>
          <a:prstGeom prst="line">
            <a:avLst/>
          </a:prstGeom>
          <a:solidFill>
            <a:srgbClr val="8B3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87768" y="3182112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0"/>
                </a:solidFill>
              </a:rPr>
              <a:t>KMeans cluster label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159752" y="4572000"/>
            <a:ext cx="1682496" cy="219456"/>
          </a:xfrm>
          <a:prstGeom prst="roundRect">
            <a:avLst>
              <a:gd name="adj" fmla="val 29167"/>
            </a:avLst>
          </a:prstGeom>
          <a:solidFill>
            <a:srgbClr val="8B3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59752" y="45720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RF Accuracy: 98.7%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59752" y="4809744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B5"/>
                </a:solidFill>
              </a:rPr>
              <a:t>50+ features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5065776"/>
            <a:ext cx="8458200" cy="0"/>
          </a:xfrm>
          <a:prstGeom prst="line">
            <a:avLst/>
          </a:prstGeom>
          <a:noFill/>
          <a:ln w="12700">
            <a:solidFill>
              <a:srgbClr val="D0D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5120640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B5"/>
                </a:solidFill>
              </a:rPr>
              <a:t>Each feature set builds on the previous. We evaluated all four to find the best model-feature combination.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FEATURE ENGINEERING — REP DETECTION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 Counting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481328"/>
            <a:ext cx="4206240" cy="3337560"/>
          </a:xfrm>
          <a:prstGeom prst="roundRect">
            <a:avLst>
              <a:gd name="adj" fmla="val 3562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5910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</a:rPr>
              <a:t>How Reps Are Counted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2048256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482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Compute acc_r = √(acc_x²+acc_y²+acc_z²)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596896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96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88720" y="257860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Apply low-pass filter (per-exercise cutoff Hz)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3145536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45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88720" y="312724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Detect local maxima via scipy.signal.argrelextrema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694176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694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88720" y="367588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Each peak = 1 complete repetition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4242816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242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88720" y="422452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Return count + timestamps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4462272"/>
            <a:ext cx="4206240" cy="676656"/>
          </a:xfrm>
          <a:prstGeom prst="roundRect">
            <a:avLst>
              <a:gd name="adj" fmla="val 17568"/>
            </a:avLst>
          </a:prstGeom>
          <a:solidFill>
            <a:srgbClr val="0A205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45354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</a:rPr>
              <a:t>Per-Exercise Cutoff Frequencies: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4773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bench:0.40Hz  ·  squat:0.35Hz  ·  row:0.45Hz  ·  ohp:0.38Hz  ·  dead:0.30Hz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6592" y="1481328"/>
            <a:ext cx="4023360" cy="3337560"/>
          </a:xfrm>
          <a:prstGeom prst="roundRect">
            <a:avLst>
              <a:gd name="adj" fmla="val 3562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15910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FF"/>
                </a:solidFill>
              </a:rPr>
              <a:t>Magnitude Signal — Bench Press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761488"/>
            <a:ext cx="118872" cy="201168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10912" y="2610612"/>
            <a:ext cx="118872" cy="352044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75504" y="2409444"/>
            <a:ext cx="118872" cy="553212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0096" y="2107692"/>
            <a:ext cx="118872" cy="854964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2007108"/>
            <a:ext cx="118872" cy="955548"/>
          </a:xfrm>
          <a:prstGeom prst="roundRect">
            <a:avLst>
              <a:gd name="adj" fmla="val 15385"/>
            </a:avLst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68112" y="1842516"/>
            <a:ext cx="192024" cy="192024"/>
          </a:xfrm>
          <a:prstGeom prst="line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184251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40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69280" y="2157984"/>
            <a:ext cx="118872" cy="804672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33872" y="2459736"/>
            <a:ext cx="118872" cy="502920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98464" y="2660904"/>
            <a:ext cx="118872" cy="301752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2761488"/>
            <a:ext cx="118872" cy="201168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7648" y="2610612"/>
            <a:ext cx="118872" cy="352044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2379269"/>
            <a:ext cx="118872" cy="583387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56832" y="2077517"/>
            <a:ext cx="118872" cy="885139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21424" y="1997050"/>
            <a:ext cx="118872" cy="965606"/>
          </a:xfrm>
          <a:prstGeom prst="roundRect">
            <a:avLst>
              <a:gd name="adj" fmla="val 15385"/>
            </a:avLst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1832458"/>
            <a:ext cx="192024" cy="192024"/>
          </a:xfrm>
          <a:prstGeom prst="line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84848" y="183245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40"/>
                </a:solidFill>
              </a:rPr>
              <a:t>✓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86016" y="2137867"/>
            <a:ext cx="118872" cy="824789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50608" y="2439619"/>
            <a:ext cx="118872" cy="523037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0" y="2640787"/>
            <a:ext cx="118872" cy="321869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79792" y="2741371"/>
            <a:ext cx="118872" cy="221285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44384" y="2580437"/>
            <a:ext cx="118872" cy="382219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08976" y="2359152"/>
            <a:ext cx="118872" cy="603504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73568" y="2057400"/>
            <a:ext cx="118872" cy="905256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1986991"/>
            <a:ext cx="118872" cy="975665"/>
          </a:xfrm>
          <a:prstGeom prst="roundRect">
            <a:avLst>
              <a:gd name="adj" fmla="val 15385"/>
            </a:avLst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01584" y="1822399"/>
            <a:ext cx="192024" cy="192024"/>
          </a:xfrm>
          <a:prstGeom prst="line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01584" y="182239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40"/>
                </a:solidFill>
              </a:rPr>
              <a:t>✓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302752" y="2117750"/>
            <a:ext cx="118872" cy="844906"/>
          </a:xfrm>
          <a:prstGeom prst="roundRect">
            <a:avLst>
              <a:gd name="adj" fmla="val 15385"/>
            </a:avLst>
          </a:prstGeom>
          <a:solidFill>
            <a:srgbClr val="00C2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30723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800"/>
                </a:solidFill>
              </a:rPr>
              <a:t>Peak = 1 Rep    ✓ ×3 peaks = 3 reps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36592" y="3456432"/>
            <a:ext cx="4023360" cy="731520"/>
          </a:xfrm>
          <a:prstGeom prst="roundRect">
            <a:avLst>
              <a:gd name="adj" fmla="val 16250"/>
            </a:avLst>
          </a:prstGeom>
          <a:solidFill>
            <a:srgbClr val="003D1A"/>
          </a:solidFill>
          <a:ln w="12700">
            <a:solidFill>
              <a:srgbClr val="00D6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736592" y="35295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68F"/>
                </a:solidFill>
              </a:rPr>
              <a:t>Mean Absolute Error: &lt; 1 rep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736592" y="382219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DD"/>
                </a:solidFill>
              </a:rPr>
              <a:t>Validated across 5 exercise classes, multiple set sizes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MODEL TRAINING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Pipeline — train.py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3526" y="1481328"/>
            <a:ext cx="2788920" cy="1325880"/>
          </a:xfrm>
          <a:prstGeom prst="roundRect">
            <a:avLst>
              <a:gd name="adj" fmla="val 896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1609344"/>
            <a:ext cx="310896" cy="31089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40"/>
                </a:solidFill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7364" y="1610659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br>
              <a:rPr lang="en-US" sz="1150" b="1" dirty="0">
                <a:solidFill>
                  <a:srgbClr val="FFFFFF"/>
                </a:solidFill>
              </a:rPr>
            </a:br>
            <a:r>
              <a:rPr lang="en-US" sz="1200" b="1">
                <a:solidFill>
                  <a:srgbClr val="FFFFFF"/>
                </a:solidFill>
                <a:ea typeface="Calibri"/>
                <a:cs typeface="Calibri"/>
              </a:rPr>
              <a:t>Feature Engineering</a:t>
            </a:r>
            <a:endParaRPr lang="en-US" sz="1200">
              <a:ea typeface="Calibri"/>
              <a:cs typeface="Calibri"/>
            </a:endParaRPr>
          </a:p>
          <a:p>
            <a:endParaRPr lang="en-US" sz="1150" b="1" dirty="0"/>
          </a:p>
        </p:txBody>
      </p:sp>
      <p:sp>
        <p:nvSpPr>
          <p:cNvPr id="10" name="Text 8"/>
          <p:cNvSpPr/>
          <p:nvPr/>
        </p:nvSpPr>
        <p:spPr>
          <a:xfrm>
            <a:off x="484632" y="1956816"/>
            <a:ext cx="2459736" cy="7589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AABBDD"/>
                </a:solidFill>
                <a:ea typeface="Calibri"/>
                <a:cs typeface="Calibri"/>
              </a:rPr>
              <a:t>Apply full 5-stage</a:t>
            </a:r>
            <a:endParaRPr lang="en-US" sz="900">
              <a:ea typeface="Calibri"/>
              <a:cs typeface="Calibri"/>
            </a:endParaRPr>
          </a:p>
          <a:p>
            <a:r>
              <a:rPr lang="en-US" sz="900">
                <a:solidFill>
                  <a:srgbClr val="AABBDD"/>
                </a:solidFill>
                <a:ea typeface="Calibri"/>
                <a:cs typeface="Calibri"/>
              </a:rPr>
              <a:t>feature pipeline</a:t>
            </a:r>
            <a:endParaRPr lang="en-US" sz="900">
              <a:ea typeface="Calibri"/>
              <a:cs typeface="Calibri"/>
            </a:endParaRPr>
          </a:p>
          <a:p>
            <a:br>
              <a:rPr lang="en-US" sz="950" dirty="0"/>
            </a:br>
            <a:endParaRPr lang="en-US" sz="950"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45536" y="2141011"/>
            <a:ext cx="109728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202996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1481328"/>
            <a:ext cx="2788920" cy="1325880"/>
          </a:xfrm>
          <a:prstGeom prst="roundRect">
            <a:avLst>
              <a:gd name="adj" fmla="val 896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92424" y="1609344"/>
            <a:ext cx="310896" cy="31089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76472" y="1618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Preprocess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29000" y="1956816"/>
            <a:ext cx="245973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Chauvenet + Interpolation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Butterworth LPF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2148840"/>
            <a:ext cx="109728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202996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08776" y="1481328"/>
            <a:ext cx="2788920" cy="1325880"/>
          </a:xfrm>
          <a:prstGeom prst="roundRect">
            <a:avLst>
              <a:gd name="adj" fmla="val 896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1609344"/>
            <a:ext cx="310896" cy="31089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40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1618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FFFFF"/>
                </a:solidFill>
              </a:rPr>
              <a:t>Load</a:t>
            </a:r>
            <a:r>
              <a:rPr lang="en-US" sz="1200" b="1" dirty="0">
                <a:solidFill>
                  <a:srgbClr val="FFFFFF"/>
                </a:solidFill>
              </a:rPr>
              <a:t> Dataset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3368" y="1956816"/>
            <a:ext cx="2459736" cy="7589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900">
                <a:solidFill>
                  <a:srgbClr val="AABBDD"/>
                </a:solidFill>
              </a:rPr>
              <a:t>All CSVs from data/raw/</a:t>
            </a:r>
            <a:endParaRPr lang="en-US" sz="900">
              <a:ea typeface="Calibri"/>
              <a:cs typeface="Calibri"/>
            </a:endParaRPr>
          </a:p>
          <a:p>
            <a:r>
              <a:rPr lang="en-US" sz="900">
                <a:solidFill>
                  <a:srgbClr val="AABBDD"/>
                </a:solidFill>
              </a:rPr>
              <a:t>Labels from filenames</a:t>
            </a:r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37360" y="2807208"/>
            <a:ext cx="0" cy="109728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28712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962656"/>
            <a:ext cx="2788920" cy="1325880"/>
          </a:xfrm>
          <a:prstGeom prst="roundRect">
            <a:avLst>
              <a:gd name="adj" fmla="val 896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" y="3090672"/>
            <a:ext cx="310896" cy="31089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" y="3099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Split 80/20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" y="3438144"/>
            <a:ext cx="245973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train_test_split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stratified by label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45536" y="3630168"/>
            <a:ext cx="109728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9544" y="351129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64408" y="2962656"/>
            <a:ext cx="2788920" cy="1325880"/>
          </a:xfrm>
          <a:prstGeom prst="roundRect">
            <a:avLst>
              <a:gd name="adj" fmla="val 896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92424" y="3090672"/>
            <a:ext cx="310896" cy="31089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2424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76472" y="3099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GridSearchCV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429000" y="3438144"/>
            <a:ext cx="245973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5-fold CV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hyperparameter tuning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89904" y="3630168"/>
            <a:ext cx="109728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53912" y="351129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08776" y="2962656"/>
            <a:ext cx="2788920" cy="1325880"/>
          </a:xfrm>
          <a:prstGeom prst="roundRect">
            <a:avLst>
              <a:gd name="adj" fmla="val 8966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36792" y="3090672"/>
            <a:ext cx="310896" cy="310896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3099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Evaluate &amp; Save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373368" y="3438144"/>
            <a:ext cx="245973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Compare all models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Save best pkl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MODEL COMPARISON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 Won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7223760" cy="3017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f_set_1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f_set_2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f_set_3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f_set_4 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Train Time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GPU Needed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Random Forest ✅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91%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94%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96.5%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68F"/>
                          </a:solidFill>
                        </a:rPr>
                        <a:t>98.7%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~2 min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Neural Network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87%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91%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94.0%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97.2%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~45 min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Preferred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KNN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83%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88%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92.0%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95.1%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~3 min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83%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88.0%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91.3%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&lt;1 min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Naive Bayes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72%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76%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81.0%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84.0%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&lt;1 min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BBDD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5010912"/>
            <a:ext cx="8458200" cy="384048"/>
          </a:xfrm>
          <a:prstGeom prst="roundRect">
            <a:avLst>
              <a:gd name="adj" fmla="val 30952"/>
            </a:avLst>
          </a:prstGeom>
          <a:solidFill>
            <a:srgbClr val="0D2840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5010912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DD"/>
                </a:solidFill>
              </a:rPr>
              <a:t>GridSearchCV (5-fold CV) used for all models  ·  Best params: n_estimators=200, max_depth=None, min_samples_split=2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MODEL ARTIFACTS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Gets Saved After Training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81328"/>
            <a:ext cx="84582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9105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934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random_forest_model.pkl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190195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The trained Random Forest classifier.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Loaded at startup for all predictions.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Contains 200 decision trees.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37760" y="1591056"/>
            <a:ext cx="3703320" cy="603504"/>
          </a:xfrm>
          <a:prstGeom prst="roundRect">
            <a:avLst>
              <a:gd name="adj" fmla="val 19697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02352" y="1700784"/>
            <a:ext cx="33741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joblib.dump(model, 'random_forest_model.pkl')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2688336"/>
            <a:ext cx="84582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" y="279806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16352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2779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feature_pipeline.pkl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960120" y="31089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The full sklearn Pipeline: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StandardScaler + PCA + KMeans.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Fit on training data only.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937760" y="2798064"/>
            <a:ext cx="3703320" cy="603504"/>
          </a:xfrm>
          <a:prstGeom prst="roundRect">
            <a:avLst>
              <a:gd name="adj" fmla="val 19697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102352" y="2907792"/>
            <a:ext cx="33741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joblib.dump(pipeline, 'feature_pipeline.pkl')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0040" y="3895344"/>
            <a:ext cx="84582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11480" y="40050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2336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60120" y="3986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feature_set.pkl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960120" y="431596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List of 50+ feature column names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in exact order the model expects.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Prevents column mismatch errors.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937760" y="4005072"/>
            <a:ext cx="3703320" cy="603504"/>
          </a:xfrm>
          <a:prstGeom prst="roundRect">
            <a:avLst>
              <a:gd name="adj" fmla="val 19697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102352" y="4114800"/>
            <a:ext cx="33741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joblib.dump(feature_cols, 'feature_set.pkl')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320040" y="5074920"/>
            <a:ext cx="8458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800"/>
                </a:solidFill>
              </a:rPr>
              <a:t>⚠  Rule: The pipeline and feature_set must always come from the SAME training run as the model — never mix versions.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MODEL INFERENCE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Inference — predict.py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81328"/>
            <a:ext cx="4663440" cy="3566160"/>
          </a:xfrm>
          <a:prstGeom prst="roundRect">
            <a:avLst>
              <a:gd name="adj" fmla="val 3333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727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models/predict.py — Predictor.predict()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47088"/>
            <a:ext cx="4480560" cy="3072384"/>
          </a:xfrm>
          <a:prstGeom prst="roundRect">
            <a:avLst>
              <a:gd name="adj" fmla="val 3869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" y="1956816"/>
            <a:ext cx="4151376" cy="2852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def predict(self,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sensor_reading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: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dict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):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df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=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load_for_inference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sensor_reading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# Apply full feature pipeline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df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=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self.pipeline.transform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df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# Keep only trained feature columns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X  =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df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[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self.feature_cols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]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# Classify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label =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self.model.predict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(X)[0]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proba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=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self.model.predict_proba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(X)[0]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conf  = max(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proba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# Count reps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reps  =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count_reps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df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, label)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return {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  "exercise":    label,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  "confidence":  round(conf, 3),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  "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rep_count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":   reps,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  "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proba_all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":  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dict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(zip(EXERCISES, 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proba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)),</a:t>
            </a:r>
            <a:endParaRPr lang="en-US" sz="80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      "</a:t>
            </a:r>
            <a:r>
              <a:rPr lang="en-US" sz="800" dirty="0" err="1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latency_ms</a:t>
            </a:r>
            <a:r>
              <a:rPr lang="en-US" sz="800" dirty="0">
                <a:solidFill>
                  <a:srgbClr val="00FF88"/>
                </a:solidFill>
                <a:latin typeface="Courier New"/>
                <a:ea typeface="Courier New" pitchFamily="34" charset="-122"/>
                <a:cs typeface="Courier New"/>
              </a:rPr>
              <a:t>":  round(elapsed*1000, 2)</a:t>
            </a:r>
            <a:endParaRPr lang="en-US" sz="8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38928" y="1481328"/>
            <a:ext cx="3657600" cy="3566160"/>
          </a:xfrm>
          <a:prstGeom prst="roundRect">
            <a:avLst>
              <a:gd name="adj" fmla="val 3333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38928" y="1572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JSON Response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30368" y="1847088"/>
            <a:ext cx="3474720" cy="3072384"/>
          </a:xfrm>
          <a:prstGeom prst="roundRect">
            <a:avLst>
              <a:gd name="adj" fmla="val 3869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1956816"/>
            <a:ext cx="3145536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"exercise":   "bench",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0.947,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"rep_count":  7,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"proba_all":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"bench": 0.947,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"squat": 0.031,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"row":   0.012,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"ohp":   0.007,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"dead":  0.003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"latency_ms": 4.2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API LAYER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Server — app.py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81328"/>
            <a:ext cx="845820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00784"/>
            <a:ext cx="621792" cy="237744"/>
          </a:xfrm>
          <a:prstGeom prst="roundRect">
            <a:avLst>
              <a:gd name="adj" fmla="val 30769"/>
            </a:avLst>
          </a:prstGeom>
          <a:solidFill>
            <a:srgbClr val="00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078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Single IMU reading → classification + reps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60520" y="157276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5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{"acc_x":0.1,"acc_y":-9.7,"acc_z":0.3,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5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"gyro_x":0.02,"gyro_y":-0.01,"gyro_z":0.00}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845820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578608"/>
            <a:ext cx="621792" cy="237744"/>
          </a:xfrm>
          <a:prstGeom prst="roundRect">
            <a:avLst>
              <a:gd name="adj" fmla="val 30769"/>
            </a:avLst>
          </a:prstGeom>
          <a:solidFill>
            <a:srgbClr val="00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786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7280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/predict/batch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9806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Array of readings processed at once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60520" y="245059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5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{"readings": [...]}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845820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456432"/>
            <a:ext cx="621792" cy="237744"/>
          </a:xfrm>
          <a:prstGeom prst="roundRect">
            <a:avLst>
              <a:gd name="adj" fmla="val 30769"/>
            </a:avLst>
          </a:prstGeom>
          <a:solidFill>
            <a:srgbClr val="004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5643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728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6758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Returns model status + uptime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60520" y="332841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5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{"status":"ok","model":"loaded"}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114800"/>
            <a:ext cx="845820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34256"/>
            <a:ext cx="621792" cy="237744"/>
          </a:xfrm>
          <a:prstGeom prst="roundRect">
            <a:avLst>
              <a:gd name="adj" fmla="val 30769"/>
            </a:avLst>
          </a:prstGeom>
          <a:solidFill>
            <a:srgbClr val="004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3425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" y="4261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/model/info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55371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B5"/>
                </a:solidFill>
              </a:rPr>
              <a:t>Returns model name, accuracy, feature count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60520" y="42062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5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{"model":"RandomForest","accuracy":0.987}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5029200"/>
            <a:ext cx="8458200" cy="347472"/>
          </a:xfrm>
          <a:prstGeom prst="roundRect">
            <a:avLst>
              <a:gd name="adj" fmla="val 34211"/>
            </a:avLst>
          </a:prstGeom>
          <a:solidFill>
            <a:srgbClr val="0D1B4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5029200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2FF"/>
                </a:solidFill>
              </a:rPr>
              <a:t>Deployment: docker-compose up  →  FastAPI served on port 8000  ·  uvicorn with 4 workers  ·  Health check every 30s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SYSTEM INTEGRATION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" y="1572768"/>
            <a:ext cx="896112" cy="1170432"/>
          </a:xfrm>
          <a:prstGeom prst="roundRect">
            <a:avLst>
              <a:gd name="adj" fmla="val 13265"/>
            </a:avLst>
          </a:prstGeom>
          <a:solidFill>
            <a:srgbClr val="0D3A6E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" y="166420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MPU-6050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" y="217627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D"/>
                </a:solidFill>
              </a:rPr>
              <a:t>Reads 6-axis at 5Hz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225296" y="2157984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FF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26464" y="1572768"/>
            <a:ext cx="896112" cy="1170432"/>
          </a:xfrm>
          <a:prstGeom prst="roundRect">
            <a:avLst>
              <a:gd name="adj" fmla="val 13265"/>
            </a:avLst>
          </a:prstGeom>
          <a:solidFill>
            <a:srgbClr val="0D3A6E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26464" y="166420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26464" y="217627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D"/>
                </a:solidFill>
              </a:rPr>
              <a:t>Packages JSON via UART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322576" y="2157984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0008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FF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23744" y="1572768"/>
            <a:ext cx="896112" cy="1170432"/>
          </a:xfrm>
          <a:prstGeom prst="roundRect">
            <a:avLst>
              <a:gd name="adj" fmla="val 13265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23744" y="166420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sensor_handler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23744" y="217627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D"/>
                </a:solidFill>
              </a:rPr>
              <a:t>Abstracts HW mode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19856" y="2157984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FF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21024" y="1572768"/>
            <a:ext cx="896112" cy="1170432"/>
          </a:xfrm>
          <a:prstGeom prst="roundRect">
            <a:avLst>
              <a:gd name="adj" fmla="val 13265"/>
            </a:avLst>
          </a:prstGeom>
          <a:solidFill>
            <a:srgbClr val="004A8F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21024" y="166420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21024" y="217627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D"/>
                </a:solidFill>
              </a:rPr>
              <a:t>FastAPI receives reading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17136" y="2157984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FF"/>
                </a:solidFill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18304" y="1572768"/>
            <a:ext cx="896112" cy="1170432"/>
          </a:xfrm>
          <a:prstGeom prst="roundRect">
            <a:avLst>
              <a:gd name="adj" fmla="val 13265"/>
            </a:avLst>
          </a:prstGeom>
          <a:solidFill>
            <a:srgbClr val="3A1A6E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18304" y="166420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pipeline.transform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18304" y="217627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D"/>
                </a:solidFill>
              </a:rPr>
              <a:t>50+ features built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14416" y="2157984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41848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FF"/>
                </a:solidFill>
              </a:rPr>
              <a:t>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15584" y="1572768"/>
            <a:ext cx="896112" cy="1170432"/>
          </a:xfrm>
          <a:prstGeom prst="roundRect">
            <a:avLst>
              <a:gd name="adj" fmla="val 13265"/>
            </a:avLst>
          </a:prstGeom>
          <a:solidFill>
            <a:srgbClr val="0A3D1E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15584" y="166420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RF.predict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15584" y="217627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D"/>
                </a:solidFill>
              </a:rPr>
              <a:t>Label + confidence + reps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711696" y="2157984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39128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FF"/>
                </a:solidFill>
              </a:rPr>
              <a:t>▶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12864" y="1572768"/>
            <a:ext cx="896112" cy="1170432"/>
          </a:xfrm>
          <a:prstGeom prst="roundRect">
            <a:avLst>
              <a:gd name="adj" fmla="val 13265"/>
            </a:avLst>
          </a:prstGeom>
          <a:solidFill>
            <a:srgbClr val="3A2A0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12864" y="166420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response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12864" y="217627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D"/>
                </a:solidFill>
              </a:rPr>
              <a:t>&lt; 5ms total latency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808976" y="2157984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36408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FF"/>
                </a:solidFill>
              </a:rPr>
              <a:t>▶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10144" y="1572768"/>
            <a:ext cx="896112" cy="1170432"/>
          </a:xfrm>
          <a:prstGeom prst="roundRect">
            <a:avLst>
              <a:gd name="adj" fmla="val 13265"/>
            </a:avLst>
          </a:prstGeom>
          <a:solidFill>
            <a:srgbClr val="3A1A0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010144" y="166420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OLED display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10144" y="2176272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D"/>
                </a:solidFill>
              </a:rPr>
              <a:t>Shows result to user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9184" y="2907792"/>
            <a:ext cx="8458200" cy="1042416"/>
          </a:xfrm>
          <a:prstGeom prst="roundRect">
            <a:avLst>
              <a:gd name="adj" fmla="val 11404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29184" y="2980944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Latency Breakdown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331012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B5"/>
                </a:solidFill>
              </a:rPr>
              <a:t>Sensor read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35295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00"/>
                </a:solidFill>
              </a:rPr>
              <a:t>~50ms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194560" y="331012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B5"/>
                </a:solidFill>
              </a:rPr>
              <a:t>UART transfer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194560" y="35295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00"/>
                </a:solidFill>
              </a:rPr>
              <a:t>~10ms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86200" y="331012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B5"/>
                </a:solidFill>
              </a:rPr>
              <a:t>Feature build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86200" y="35295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00"/>
                </a:solidFill>
              </a:rPr>
              <a:t>~2ms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577840" y="331012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B5"/>
                </a:solidFill>
              </a:rPr>
              <a:t>RF inference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77840" y="35295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00"/>
                </a:solidFill>
              </a:rPr>
              <a:t>~1.5ms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69480" y="331012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B5"/>
                </a:solidFill>
              </a:rPr>
              <a:t>JSON response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69480" y="35295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00"/>
                </a:solidFill>
              </a:rPr>
              <a:t>~0.5ms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29184" y="4041648"/>
            <a:ext cx="8458200" cy="731520"/>
          </a:xfrm>
          <a:prstGeom prst="roundRect">
            <a:avLst>
              <a:gd name="adj" fmla="val 16250"/>
            </a:avLst>
          </a:prstGeom>
          <a:solidFill>
            <a:srgbClr val="0A1230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29184" y="4041648"/>
            <a:ext cx="8458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output:  exercise="bench"  |  confidence=0.947  |  reps=7  |  latency=4.2ms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81328"/>
            <a:ext cx="20116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5448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</a:rPr>
              <a:t>Overall Accuracy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481328"/>
            <a:ext cx="20116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55448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&lt;5ms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</a:rPr>
              <a:t>Latency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481328"/>
            <a:ext cx="20116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55448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rep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0916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</a:rPr>
              <a:t>Rep Count MAE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1481328"/>
            <a:ext cx="20116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55448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</a:rPr>
              <a:t>Exercise Classes</a:t>
            </a:r>
            <a:endParaRPr lang="en-US" sz="9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320040" y="2724912"/>
          <a:ext cx="84582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MODEL 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92065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65029" y="1040099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1328" y="1007280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FF"/>
                </a:solidFill>
              </a:rPr>
              <a:t>Predicted 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9539" y="1547904"/>
            <a:ext cx="420624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FF"/>
                </a:solidFill>
              </a:rPr>
              <a:t>Actual 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81328" y="11978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8BB5"/>
                </a:solidFill>
              </a:rPr>
              <a:t>bench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42416" y="1508760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BB5"/>
                </a:solidFill>
              </a:rPr>
              <a:t>bench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17904" y="1545336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A5C2A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7904" y="15453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68F"/>
                </a:solidFill>
              </a:rPr>
              <a:t>99%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88336" y="1545336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8336" y="15453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58768" y="1545336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15453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545336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3A101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5453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E4E"/>
                </a:solidFill>
              </a:rPr>
              <a:t>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1545336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5453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11978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8BB5"/>
                </a:solidFill>
              </a:rPr>
              <a:t>squat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42416" y="2167128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BB5"/>
                </a:solidFill>
              </a:rPr>
              <a:t>squat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517904" y="2203704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17904" y="220370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88336" y="2203704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A5C2A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88336" y="220370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68F"/>
                </a:solidFill>
              </a:rPr>
              <a:t>98%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8768" y="2203704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3A101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20370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E4E"/>
                </a:solidFill>
              </a:rPr>
              <a:t>1%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203704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20370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2203704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3A101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20370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E4E"/>
                </a:solidFill>
              </a:rPr>
              <a:t>1%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22192" y="123700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8BB5"/>
                </a:solidFill>
              </a:rPr>
              <a:t>row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42416" y="2864640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BB5"/>
                </a:solidFill>
              </a:rPr>
              <a:t>row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517904" y="2862072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7904" y="286207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88336" y="2862072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3A101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88336" y="286207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E4E"/>
                </a:solidFill>
              </a:rPr>
              <a:t>1%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858768" y="2862072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A5C2A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58768" y="286207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68F"/>
                </a:solidFill>
              </a:rPr>
              <a:t>98%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29200" y="2862072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3A101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86207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E4E"/>
                </a:solidFill>
              </a:rPr>
              <a:t>1%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99632" y="2862072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286207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92624" y="11978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8BB5"/>
                </a:solidFill>
              </a:rPr>
              <a:t>ohp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42416" y="3483864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BB5"/>
                </a:solidFill>
              </a:rPr>
              <a:t>ohp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517904" y="3520440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3A101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17904" y="352044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E4E"/>
                </a:solidFill>
              </a:rPr>
              <a:t>2%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88336" y="3520440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88336" y="352044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858768" y="3520440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3A101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58768" y="352044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E4E"/>
                </a:solidFill>
              </a:rPr>
              <a:t>1%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29200" y="3520440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A5C2A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352044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68F"/>
                </a:solidFill>
              </a:rPr>
              <a:t>97%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99632" y="3520440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352044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63056" y="11978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8BB5"/>
                </a:solidFill>
              </a:rPr>
              <a:t>dead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42416" y="4142232"/>
            <a:ext cx="402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BB5"/>
                </a:solidFill>
              </a:rPr>
              <a:t>dead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517904" y="4178808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17904" y="417880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688336" y="4178808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3A101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88336" y="417880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E4E"/>
                </a:solidFill>
              </a:rPr>
              <a:t>1%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858768" y="4178808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58768" y="417880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029200" y="4178808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D1B40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0" y="417880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060"/>
                </a:solidFill>
              </a:rPr>
              <a:t>0%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199632" y="4178808"/>
            <a:ext cx="1097280" cy="585216"/>
          </a:xfrm>
          <a:prstGeom prst="roundRect">
            <a:avLst>
              <a:gd name="adj" fmla="val 9375"/>
            </a:avLst>
          </a:prstGeom>
          <a:solidFill>
            <a:srgbClr val="0A5C2A"/>
          </a:solidFill>
          <a:ln w="6350">
            <a:solidFill>
              <a:srgbClr val="2A409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9632" y="417880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68F"/>
                </a:solidFill>
              </a:rPr>
              <a:t>99%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406640" y="1508760"/>
            <a:ext cx="1389888" cy="1389888"/>
          </a:xfrm>
          <a:prstGeom prst="roundRect">
            <a:avLst>
              <a:gd name="adj" fmla="val 855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406640" y="1572768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FF"/>
                </a:solidFill>
              </a:rPr>
              <a:t>Legend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516368" y="1865376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0A5C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27264" y="186537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68F"/>
                </a:solidFill>
              </a:rPr>
              <a:t>Correct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516368" y="2139696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3A10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27264" y="213969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4E4E"/>
                </a:solidFill>
              </a:rPr>
              <a:t>Misclass.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516368" y="2414016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0D1B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27264" y="241401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66AA"/>
                </a:solidFill>
              </a:rPr>
              <a:t>Zero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20040" y="4873752"/>
            <a:ext cx="6995160" cy="475488"/>
          </a:xfrm>
          <a:prstGeom prst="roundRect">
            <a:avLst>
              <a:gd name="adj" fmla="val 25000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11480" y="4919472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800"/>
                </a:solidFill>
              </a:rPr>
              <a:t>⚠  ohp ↔ bench: 3% confusion — both involve horizontal pushing motion. Addressed by temporal + FFT features distinguishing range of motion.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TECH STACK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File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fitness_tracker/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48840" y="1481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Project root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181051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main.py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04872" y="181051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Entry point — --train / --serve / --stream / --evaluate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7512" y="213969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config/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3544" y="246888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config.py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0904" y="246888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All constants: SAMPLING_FREQ, EXERCISES, REP_CUTOFFS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" y="279806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data/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23544" y="3127248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loader.py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60904" y="312724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CSV → DataFrame and JSON → DataFrame for inference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23544" y="345643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preprocessing.py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60904" y="34564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Chauvenet outlier removal + Butterworth LPF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7512" y="378561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features/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3544" y="411480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feature_engineering.py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60904" y="41148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Full 5-stage pipeline: magnitude, PCA, temporal, FFT, KMeans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7512" y="444398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models/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23544" y="4773168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train.py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60904" y="477316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GridSearchCV training of 5 classifiers × 4 feature sets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21224" y="1481328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predict.py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58584" y="148132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Predictor class for real-time inference + rep counting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21224" y="181051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model_utils.py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58584" y="181051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save_model() and load_model() with joblib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65192" y="213969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api/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21224" y="246888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app.py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58584" y="246888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FastAPI server with 4 endpoints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65192" y="279806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hardware/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21224" y="3127248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sensor_handler.py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58584" y="312724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SimulatedSensor / SerialSensor / GPIOSensor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65192" y="345643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saved_models/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02552" y="34564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random_forest_model.pkl · feature_pipeline.pkl · feature_set.pkl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65192" y="378561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utils/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02552" y="378561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helpers.py — logging and utility functions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65192" y="411480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Dockerfile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02552" y="41148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Container definition for deployment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65192" y="444398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docker-compose.yml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02552" y="44439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BB5"/>
                </a:solidFill>
              </a:rPr>
              <a:t>— Service orchestration — API + health checks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TECH STACK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81328"/>
            <a:ext cx="4114800" cy="1664208"/>
          </a:xfrm>
          <a:prstGeom prst="roundRect">
            <a:avLst>
              <a:gd name="adj" fmla="val 714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7276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2011680"/>
            <a:ext cx="109728" cy="109728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5681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scikit-learn (Random Forest, PCA, KMeans)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2286000"/>
            <a:ext cx="109728" cy="109728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3113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numpy · pandas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" y="2560320"/>
            <a:ext cx="109728" cy="109728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0545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scipy (Butterworth filter, peak detection)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" y="2834640"/>
            <a:ext cx="109728" cy="109728"/>
          </a:xfrm>
          <a:prstGeom prst="line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joblib (model serialization)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99432" y="1481328"/>
            <a:ext cx="4114800" cy="1664208"/>
          </a:xfrm>
          <a:prstGeom prst="roundRect">
            <a:avLst>
              <a:gd name="adj" fmla="val 714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2" y="157276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572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&amp; Backend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011680"/>
            <a:ext cx="109728" cy="109728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95681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FastAPI (REST endpoints)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286000"/>
            <a:ext cx="109728" cy="109728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23113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uvicorn (ASGI server)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560320"/>
            <a:ext cx="109728" cy="109728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250545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pydantic (request validation)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834640"/>
            <a:ext cx="109728" cy="109728"/>
          </a:xfrm>
          <a:prstGeom prst="line">
            <a:avLst/>
          </a:prstGeom>
          <a:solidFill>
            <a:srgbClr val="0A6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77977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Python 3.10+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310128"/>
            <a:ext cx="4114800" cy="1664208"/>
          </a:xfrm>
          <a:prstGeom prst="roundRect">
            <a:avLst>
              <a:gd name="adj" fmla="val 714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40156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401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Hardware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" y="3840480"/>
            <a:ext cx="109728" cy="109728"/>
          </a:xfrm>
          <a:prstGeom prst="line">
            <a:avLst/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78561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ESP32 (Espressif)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1208" y="4114800"/>
            <a:ext cx="109728" cy="109728"/>
          </a:xfrm>
          <a:prstGeom prst="line">
            <a:avLst/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05993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MPU-6050 (6-axis IMU)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" y="4389120"/>
            <a:ext cx="109728" cy="109728"/>
          </a:xfrm>
          <a:prstGeom prst="line">
            <a:avLst/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33425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SSD1306 (OLED 128×64)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1208" y="4663440"/>
            <a:ext cx="109728" cy="109728"/>
          </a:xfrm>
          <a:prstGeom prst="line">
            <a:avLst/>
          </a:prstGeom>
          <a:solidFill>
            <a:srgbClr val="6B2A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60857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pyserial / smbus2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99432" y="3310128"/>
            <a:ext cx="4114800" cy="1664208"/>
          </a:xfrm>
          <a:prstGeom prst="roundRect">
            <a:avLst>
              <a:gd name="adj" fmla="val 714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90872" y="340156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8B4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3401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840480"/>
            <a:ext cx="109728" cy="109728"/>
          </a:xfrm>
          <a:prstGeom prst="line">
            <a:avLst/>
          </a:prstGeom>
          <a:solidFill>
            <a:srgbClr val="8B4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78561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Docker + docker-compose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4114800"/>
            <a:ext cx="109728" cy="109728"/>
          </a:xfrm>
          <a:prstGeom prst="line">
            <a:avLst/>
          </a:prstGeom>
          <a:solidFill>
            <a:srgbClr val="8B4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405993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GitHub (version control)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4389120"/>
            <a:ext cx="109728" cy="109728"/>
          </a:xfrm>
          <a:prstGeom prst="line">
            <a:avLst/>
          </a:prstGeom>
          <a:solidFill>
            <a:srgbClr val="8B4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433425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pytest (unit tests)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663440"/>
            <a:ext cx="109728" cy="109728"/>
          </a:xfrm>
          <a:prstGeom prst="line">
            <a:avLst/>
          </a:prstGeom>
          <a:solidFill>
            <a:srgbClr val="8B4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460857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logging (rotating file handler)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PROJECT CHALLENGES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Faced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08760"/>
            <a:ext cx="8458200" cy="585216"/>
          </a:xfrm>
          <a:prstGeom prst="roundRect">
            <a:avLst>
              <a:gd name="adj" fmla="val 2031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6550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618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Single-row LPF failure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65506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51376" y="1600200"/>
            <a:ext cx="4498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Applied minimum window check — skip filter if fewer than filter_order+1 samples in input.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" y="2203704"/>
            <a:ext cx="8458200" cy="585216"/>
          </a:xfrm>
          <a:prstGeom prst="roundRect">
            <a:avLst>
              <a:gd name="adj" fmla="val 2031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35000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313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Duplicate raw data files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235000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51376" y="2295144"/>
            <a:ext cx="4498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Added deduplication in loader.py — sort by timestamp, drop duplicate firmware versions.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320040" y="2898648"/>
            <a:ext cx="8458200" cy="585216"/>
          </a:xfrm>
          <a:prstGeom prst="roundRect">
            <a:avLst>
              <a:gd name="adj" fmla="val 2031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044952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9808" y="3008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Pandas epoch/datetime bug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3044952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151376" y="2990088"/>
            <a:ext cx="4498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Replaced int-based epoch parsing with pd.to_datetime() + explicit timezone handling.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320040" y="3593592"/>
            <a:ext cx="8458200" cy="585216"/>
          </a:xfrm>
          <a:prstGeom prst="roundRect">
            <a:avLst>
              <a:gd name="adj" fmla="val 2031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739896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9808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Feature column mismatch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3739896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151376" y="3685032"/>
            <a:ext cx="4498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feature_set.pkl enforces exact column list and order at inference time.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320040" y="4288536"/>
            <a:ext cx="8458200" cy="585216"/>
          </a:xfrm>
          <a:prstGeom prst="roundRect">
            <a:avLst>
              <a:gd name="adj" fmla="val 20313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34840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49808" y="4398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ESP32 WiFi firewall block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4434840"/>
            <a:ext cx="256032" cy="25603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151376" y="4379976"/>
            <a:ext cx="4498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Switched to UART serial connection — more reliable, zero network dependency.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FF"/>
                </a:solidFill>
              </a:rPr>
              <a:t>RELATED 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 Fit vs Existing Solutions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19050">
            <a:solidFill>
              <a:srgbClr val="1A3A8F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138160" cy="325526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MR Fit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Apple Watch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Fitbit Charge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Academic Papers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40"/>
                          </a:solidFill>
                        </a:rPr>
                        <a:t>Exercise Detection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5 classes (98.7%)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Limited, closed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Steps only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Varies (60–95%)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40"/>
                          </a:solidFill>
                        </a:rPr>
                        <a:t>Rep Counting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Auto (&lt;1 MAE)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Manual input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Not supported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Rarely included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40"/>
                          </a:solidFill>
                        </a:rPr>
                        <a:t>Real-time (&lt;5ms)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6B3A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Network delay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No API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Offline only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40"/>
                          </a:solidFill>
                        </a:rPr>
                        <a:t>Open Source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6B3A"/>
                          </a:solidFill>
                        </a:rPr>
                        <a:t>✓ Fully open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Closed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Closed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Code rarely shared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40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&lt;$10 hardware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$399+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$129+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Lab equipment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40"/>
                          </a:solidFill>
                        </a:rPr>
                        <a:t>Offline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6B3A"/>
                          </a:solidFill>
                        </a:rPr>
                        <a:t>✓ No cloud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40"/>
                          </a:solidFill>
                        </a:rPr>
                        <a:t>Varies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5120640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8F"/>
                </a:solidFill>
              </a:rPr>
              <a:t>MR Fit is the only open-source, sub-$10, offline solution with automatic exercise detection AND rep counting.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0C2FF"/>
                </a:solidFill>
              </a:rPr>
              <a:t>CONCLUSION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MR Fit Delivers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81328"/>
            <a:ext cx="4206240" cy="3337560"/>
          </a:xfrm>
          <a:prstGeom prst="roundRect">
            <a:avLst>
              <a:gd name="adj" fmla="val 3562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7276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68F"/>
                </a:solidFill>
              </a:rPr>
              <a:t>Delivered ✓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933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975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Real-time exercise classification — 98.7%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450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Automatic rep counting — MAE &lt; 1 rep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43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Production FastAPI server — &lt; 5ms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1985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3401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Modular hardware (ESP32 / RPi / Simulated)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5344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877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Full ML pipeline — open source + Docker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70832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49808" y="43525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Confusion matrix + per-class evaluation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4736592" y="1481328"/>
            <a:ext cx="4069080" cy="3337560"/>
          </a:xfrm>
          <a:prstGeom prst="roundRect">
            <a:avLst>
              <a:gd name="adj" fmla="val 3562"/>
            </a:avLst>
          </a:prstGeom>
          <a:solidFill>
            <a:srgbClr val="182561"/>
          </a:solidFill>
          <a:ln w="12700">
            <a:solidFill>
              <a:srgbClr val="2A40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2"/>
          <p:cNvSpPr/>
          <p:nvPr/>
        </p:nvSpPr>
        <p:spPr>
          <a:xfrm>
            <a:off x="4736592" y="157276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800"/>
                </a:solidFill>
              </a:rPr>
              <a:t>Future Roadmap 🚀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011680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175504" y="1993392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</a:rPr>
              <a:t>Mobile app (iOS &amp; Android)</a:t>
            </a:r>
            <a:endParaRPr lang="en-US" sz="10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468880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75504" y="2450592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</a:rPr>
              <a:t>Cloud dashboard + analytics</a:t>
            </a:r>
            <a:endParaRPr lang="en-US" sz="10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926080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75504" y="2907792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</a:rPr>
              <a:t>Form correction (joint angles)</a:t>
            </a:r>
            <a:endParaRPr lang="en-US" sz="10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383280"/>
            <a:ext cx="237744" cy="23774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75504" y="3364992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</a:rPr>
              <a:t>Deep learning for 20+ exercises</a:t>
            </a:r>
            <a:endParaRPr lang="en-US" sz="10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840480"/>
            <a:ext cx="237744" cy="237744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175504" y="3822192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</a:rPr>
              <a:t>Heart rate + fatigue monitoring</a:t>
            </a:r>
            <a:endParaRPr lang="en-US" sz="105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4297680"/>
            <a:ext cx="237744" cy="237744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175504" y="4279392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</a:rPr>
              <a:t>Multi-user gym deployment</a:t>
            </a:r>
            <a:endParaRPr lang="en-US" sz="1050" dirty="0"/>
          </a:p>
        </p:txBody>
      </p:sp>
      <p:sp>
        <p:nvSpPr>
          <p:cNvPr id="33" name="Shape 19"/>
          <p:cNvSpPr/>
          <p:nvPr/>
        </p:nvSpPr>
        <p:spPr>
          <a:xfrm>
            <a:off x="320040" y="4919472"/>
            <a:ext cx="8458200" cy="402336"/>
          </a:xfrm>
          <a:prstGeom prst="roundRect">
            <a:avLst>
              <a:gd name="adj" fmla="val 29545"/>
            </a:avLst>
          </a:prstGeom>
          <a:solidFill>
            <a:srgbClr val="0A1230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20"/>
          <p:cNvSpPr/>
          <p:nvPr/>
        </p:nvSpPr>
        <p:spPr>
          <a:xfrm>
            <a:off x="320040" y="4919472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</a:rPr>
              <a:t>MR Fit — Mansoura University, Faculty of Computers &amp; Information  ·  2026  ·  Ahmed Elawady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274320"/>
            <a:ext cx="4023360" cy="4023360"/>
          </a:xfrm>
          <a:prstGeom prst="line">
            <a:avLst/>
          </a:prstGeom>
          <a:solidFill>
            <a:srgbClr val="182561"/>
          </a:solidFill>
          <a:ln w="19050">
            <a:solidFill>
              <a:srgbClr val="00C2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00584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871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33101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FF"/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3822192"/>
            <a:ext cx="64008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9502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Ahmed Elawady  </a:t>
            </a:r>
            <a:r>
              <a:rPr lang="en-US" sz="1100" dirty="0">
                <a:solidFill>
                  <a:srgbClr val="7A8BB5"/>
                </a:solidFill>
              </a:rPr>
              <a:t>·  binel3wady@gmail.com  ·  </a:t>
            </a:r>
            <a:r>
              <a:rPr lang="en-US" sz="1100" dirty="0">
                <a:solidFill>
                  <a:srgbClr val="00C2FF"/>
                </a:solidFill>
              </a:rPr>
              <a:t>github.com/AhmedElawady8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</a:rPr>
              <a:t>Mansoura University  ·  Faculty of Computers and Information  ·  AI Engineering  ·  2026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46268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66AA"/>
                </a:solidFill>
              </a:rPr>
              <a:t>MR Fit  ·  github.com/AhmedElawady8/MRFIT_Smart_Exercise_Tracker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 Fit — Full Graduation Presentation</dc:title>
  <dc:subject>PptxGenJS Presentation</dc:subject>
  <dc:creator>Ahmed Elawady</dc:creator>
  <cp:lastModifiedBy>Ahmed Elawady</cp:lastModifiedBy>
  <cp:revision>102</cp:revision>
  <dcterms:created xsi:type="dcterms:W3CDTF">2026-06-18T17:50:08Z</dcterms:created>
  <dcterms:modified xsi:type="dcterms:W3CDTF">2026-06-18T20:05:54Z</dcterms:modified>
</cp:coreProperties>
</file>